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35040" cy="10972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743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47472"/>
            <a:ext cx="2423160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4173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20040" y="2121408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2004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Attendance Tracking  ·  OpenCV  ·  dlib Face Embeddings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3493008"/>
            <a:ext cx="4114800" cy="45720"/>
          </a:xfrm>
          <a:prstGeom prst="rect">
            <a:avLst/>
          </a:prstGeom>
          <a:solidFill>
            <a:srgbClr val="3D6DB5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" y="36576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D6DB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36393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99032" y="36576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D6DB5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36393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78024" y="36576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D6DB5"/>
          </a:solidFill>
          <a:ln/>
        </p:spPr>
      </p:sp>
      <p:sp>
        <p:nvSpPr>
          <p:cNvPr id="15" name="Text 12"/>
          <p:cNvSpPr/>
          <p:nvPr/>
        </p:nvSpPr>
        <p:spPr>
          <a:xfrm>
            <a:off x="2478024" y="36393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57016" y="36576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D6DB5"/>
          </a:solidFill>
          <a:ln/>
        </p:spPr>
      </p:sp>
      <p:sp>
        <p:nvSpPr>
          <p:cNvPr id="17" name="Text 14"/>
          <p:cNvSpPr/>
          <p:nvPr/>
        </p:nvSpPr>
        <p:spPr>
          <a:xfrm>
            <a:off x="3557016" y="36393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36008" y="36576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D6DB5"/>
          </a:solidFill>
          <a:ln/>
        </p:spPr>
      </p:sp>
      <p:sp>
        <p:nvSpPr>
          <p:cNvPr id="19" name="Text 16"/>
          <p:cNvSpPr/>
          <p:nvPr/>
        </p:nvSpPr>
        <p:spPr>
          <a:xfrm>
            <a:off x="4636008" y="36393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766560" y="548640"/>
            <a:ext cx="1463040" cy="1463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309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309360" y="2633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0" y="3017520"/>
            <a:ext cx="2194560" cy="36576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4" name="Text 20"/>
          <p:cNvSpPr/>
          <p:nvPr/>
        </p:nvSpPr>
        <p:spPr>
          <a:xfrm>
            <a:off x="63093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/ AI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0936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Kaushik  | 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15568"/>
            <a:ext cx="8595360" cy="987552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15568"/>
            <a:ext cx="73152" cy="98755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170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42646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attendance systems are slow, error-prone, and easily manipulated. This project automates the entire attendance workflow using real-time face detection and recognition — eliminating manual effort and human bias.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2286000"/>
            <a:ext cx="274320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28600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3" name="Shape 10"/>
          <p:cNvSpPr/>
          <p:nvPr/>
        </p:nvSpPr>
        <p:spPr>
          <a:xfrm>
            <a:off x="1234440" y="2423160"/>
            <a:ext cx="822960" cy="82296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487168"/>
            <a:ext cx="676656" cy="6766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3337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02336" y="378561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via Haar Cascade classifier — works on image, video, and live webcam streams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172968" y="2286000"/>
            <a:ext cx="274320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172968" y="228600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9" name="Shape 15"/>
          <p:cNvSpPr/>
          <p:nvPr/>
        </p:nvSpPr>
        <p:spPr>
          <a:xfrm>
            <a:off x="4133088" y="2423160"/>
            <a:ext cx="822960" cy="82296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487168"/>
            <a:ext cx="676656" cy="6766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64408" y="3337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People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300984" y="378561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128-dimensional dlib face embeddings matched against a pre-encoded known-persons dataset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071616" y="2286000"/>
            <a:ext cx="274320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71616" y="228600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5" name="Shape 20"/>
          <p:cNvSpPr/>
          <p:nvPr/>
        </p:nvSpPr>
        <p:spPr>
          <a:xfrm>
            <a:off x="7031736" y="2423160"/>
            <a:ext cx="822960" cy="82296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487168"/>
            <a:ext cx="676656" cy="6766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63056" y="3337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Attendance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199632" y="378561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Auto-writes Name + Timestamp to a daily CSV — no duplicates, no manual intervention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828800"/>
            <a:ext cx="256032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8" name="Text 5"/>
          <p:cNvSpPr/>
          <p:nvPr/>
        </p:nvSpPr>
        <p:spPr>
          <a:xfrm>
            <a:off x="1499616" y="17007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3235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4592" y="1097280"/>
            <a:ext cx="1298448" cy="356616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97280"/>
            <a:ext cx="1298448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1" name="Shape 8"/>
          <p:cNvSpPr/>
          <p:nvPr/>
        </p:nvSpPr>
        <p:spPr>
          <a:xfrm>
            <a:off x="576072" y="1188720"/>
            <a:ext cx="457200" cy="45720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" y="11704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9456" y="23591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19456" y="290779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 / Webcam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2761488" y="1828800"/>
            <a:ext cx="256032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7" name="Text 13"/>
          <p:cNvSpPr/>
          <p:nvPr/>
        </p:nvSpPr>
        <p:spPr>
          <a:xfrm>
            <a:off x="2980944" y="17007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3235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645920" y="1097280"/>
            <a:ext cx="1298448" cy="356616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645920" y="1097280"/>
            <a:ext cx="1298448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0" name="Shape 16"/>
          <p:cNvSpPr/>
          <p:nvPr/>
        </p:nvSpPr>
        <p:spPr>
          <a:xfrm>
            <a:off x="2057400" y="1188720"/>
            <a:ext cx="457200" cy="45720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21" name="Text 17"/>
          <p:cNvSpPr/>
          <p:nvPr/>
        </p:nvSpPr>
        <p:spPr>
          <a:xfrm>
            <a:off x="2057400" y="11704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1737360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00784" y="23591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700784" y="290779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(OpenCV)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4242816" y="1828800"/>
            <a:ext cx="256032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6" name="Text 21"/>
          <p:cNvSpPr/>
          <p:nvPr/>
        </p:nvSpPr>
        <p:spPr>
          <a:xfrm>
            <a:off x="4462272" y="17007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3235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127248" y="1097280"/>
            <a:ext cx="1298448" cy="356616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127248" y="1097280"/>
            <a:ext cx="1298448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9" name="Shape 24"/>
          <p:cNvSpPr/>
          <p:nvPr/>
        </p:nvSpPr>
        <p:spPr>
          <a:xfrm>
            <a:off x="3538728" y="1188720"/>
            <a:ext cx="457200" cy="45720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30" name="Text 25"/>
          <p:cNvSpPr/>
          <p:nvPr/>
        </p:nvSpPr>
        <p:spPr>
          <a:xfrm>
            <a:off x="3538728" y="11704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1737360"/>
            <a:ext cx="530352" cy="53035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182112" y="23591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182112" y="290779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 ROI</a:t>
            </a:r>
            <a:endParaRPr lang="en-US" sz="880" dirty="0"/>
          </a:p>
        </p:txBody>
      </p:sp>
      <p:sp>
        <p:nvSpPr>
          <p:cNvPr id="34" name="Shape 28"/>
          <p:cNvSpPr/>
          <p:nvPr/>
        </p:nvSpPr>
        <p:spPr>
          <a:xfrm>
            <a:off x="5724144" y="1828800"/>
            <a:ext cx="256032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5" name="Text 29"/>
          <p:cNvSpPr/>
          <p:nvPr/>
        </p:nvSpPr>
        <p:spPr>
          <a:xfrm>
            <a:off x="5943600" y="17007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3235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608576" y="1097280"/>
            <a:ext cx="1298448" cy="356616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608576" y="1097280"/>
            <a:ext cx="1298448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8" name="Shape 32"/>
          <p:cNvSpPr/>
          <p:nvPr/>
        </p:nvSpPr>
        <p:spPr>
          <a:xfrm>
            <a:off x="5020056" y="1188720"/>
            <a:ext cx="457200" cy="45720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39" name="Text 33"/>
          <p:cNvSpPr/>
          <p:nvPr/>
        </p:nvSpPr>
        <p:spPr>
          <a:xfrm>
            <a:off x="5020056" y="11704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1737360"/>
            <a:ext cx="530352" cy="53035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663440" y="23591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Face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663440" y="290779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dlib Embedding</a:t>
            </a:r>
            <a:endParaRPr lang="en-US" sz="880" dirty="0"/>
          </a:p>
        </p:txBody>
      </p:sp>
      <p:sp>
        <p:nvSpPr>
          <p:cNvPr id="43" name="Shape 36"/>
          <p:cNvSpPr/>
          <p:nvPr/>
        </p:nvSpPr>
        <p:spPr>
          <a:xfrm>
            <a:off x="7205472" y="1828800"/>
            <a:ext cx="256032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4" name="Text 37"/>
          <p:cNvSpPr/>
          <p:nvPr/>
        </p:nvSpPr>
        <p:spPr>
          <a:xfrm>
            <a:off x="7424928" y="17007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3235"/>
                </a:solidFill>
              </a:rPr>
              <a:t>▶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6089904" y="1097280"/>
            <a:ext cx="1298448" cy="356616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089904" y="1097280"/>
            <a:ext cx="1298448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7" name="Shape 40"/>
          <p:cNvSpPr/>
          <p:nvPr/>
        </p:nvSpPr>
        <p:spPr>
          <a:xfrm>
            <a:off x="6501384" y="1188720"/>
            <a:ext cx="457200" cy="45720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48" name="Text 41"/>
          <p:cNvSpPr/>
          <p:nvPr/>
        </p:nvSpPr>
        <p:spPr>
          <a:xfrm>
            <a:off x="6501384" y="11704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1737360"/>
            <a:ext cx="530352" cy="53035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144768" y="23591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6144768" y="290779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compare_faces (tol=0.6)</a:t>
            </a:r>
            <a:endParaRPr lang="en-US" sz="880" dirty="0"/>
          </a:p>
        </p:txBody>
      </p:sp>
      <p:sp>
        <p:nvSpPr>
          <p:cNvPr id="52" name="Shape 44"/>
          <p:cNvSpPr/>
          <p:nvPr/>
        </p:nvSpPr>
        <p:spPr>
          <a:xfrm>
            <a:off x="7571232" y="1097280"/>
            <a:ext cx="1298448" cy="356616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7571232" y="1097280"/>
            <a:ext cx="1298448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54" name="Shape 46"/>
          <p:cNvSpPr/>
          <p:nvPr/>
        </p:nvSpPr>
        <p:spPr>
          <a:xfrm>
            <a:off x="7982712" y="1188720"/>
            <a:ext cx="457200" cy="45720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55" name="Text 47"/>
          <p:cNvSpPr/>
          <p:nvPr/>
        </p:nvSpPr>
        <p:spPr>
          <a:xfrm>
            <a:off x="7982712" y="11704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1737360"/>
            <a:ext cx="530352" cy="530352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7626096" y="23591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</a:t>
            </a:r>
            <a:endParaRPr lang="en-US" sz="1050" dirty="0"/>
          </a:p>
        </p:txBody>
      </p:sp>
      <p:sp>
        <p:nvSpPr>
          <p:cNvPr id="58" name="Text 49"/>
          <p:cNvSpPr/>
          <p:nvPr/>
        </p:nvSpPr>
        <p:spPr>
          <a:xfrm>
            <a:off x="7626096" y="290779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Auto-write to CSV</a:t>
            </a:r>
            <a:endParaRPr lang="en-US" sz="880" dirty="0"/>
          </a:p>
        </p:txBody>
      </p:sp>
      <p:sp>
        <p:nvSpPr>
          <p:cNvPr id="59" name="Text 5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input modes share the same detection → encoding → matching → CSV logging pipeline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9" name="Shape 6"/>
          <p:cNvSpPr/>
          <p:nvPr/>
        </p:nvSpPr>
        <p:spPr>
          <a:xfrm>
            <a:off x="402336" y="1600200"/>
            <a:ext cx="621792" cy="621792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664208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33856" y="155448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33856" y="18288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orchestration, file I/O, pipeline logic, and CSV management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172968" y="109728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72968" y="109728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6" name="Shape 12"/>
          <p:cNvSpPr/>
          <p:nvPr/>
        </p:nvSpPr>
        <p:spPr>
          <a:xfrm>
            <a:off x="3300984" y="1600200"/>
            <a:ext cx="621792" cy="621792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664208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32504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032504" y="155448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032504" y="18288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detection, frame processing, rectangle annotation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071616" y="109728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71616" y="109728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3" name="Shape 18"/>
          <p:cNvSpPr/>
          <p:nvPr/>
        </p:nvSpPr>
        <p:spPr>
          <a:xfrm>
            <a:off x="6199632" y="1600200"/>
            <a:ext cx="621792" cy="621792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64208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31152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31152" y="155448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API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931152" y="18288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dlib-backed 128-d face embeddings and Euclidean distance matching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274320" y="297180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297180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0" name="Shape 24"/>
          <p:cNvSpPr/>
          <p:nvPr/>
        </p:nvSpPr>
        <p:spPr>
          <a:xfrm>
            <a:off x="402336" y="3474720"/>
            <a:ext cx="621792" cy="621792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3538728"/>
            <a:ext cx="493776" cy="49377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33856" y="30815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133856" y="34290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33856" y="37033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arrays, CSV read/write, duplicate attendance guard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3172968" y="297180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172968" y="297180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7" name="Shape 30"/>
          <p:cNvSpPr/>
          <p:nvPr/>
        </p:nvSpPr>
        <p:spPr>
          <a:xfrm>
            <a:off x="3300984" y="3474720"/>
            <a:ext cx="621792" cy="621792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538728"/>
            <a:ext cx="493776" cy="49377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032504" y="30815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4032504" y="34290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032504" y="37033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runtime, Google Drive storage, JS webcam bridge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6071616" y="297180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071616" y="2971800"/>
            <a:ext cx="274320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4" name="Shape 36"/>
          <p:cNvSpPr/>
          <p:nvPr/>
        </p:nvSpPr>
        <p:spPr>
          <a:xfrm>
            <a:off x="6199632" y="3474720"/>
            <a:ext cx="621792" cy="621792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538728"/>
            <a:ext cx="493776" cy="49377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931152" y="30815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6931152" y="34290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Store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6931152" y="37033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attendance_YYYY-MM-DD.csv auto-generated, viewable &amp; downloadable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Haar Cascade Face Detection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06424"/>
            <a:ext cx="301752" cy="301752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088136"/>
            <a:ext cx="301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Haar Cascade?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6656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ML-based object detector trained on thousands of positive/negative images to classify regions as face or non-face.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74320" y="1901952"/>
            <a:ext cx="301752" cy="301752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1883664"/>
            <a:ext cx="301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" y="18470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Approach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" y="2121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slides across the image at multiple scales, evaluating each sub-region using Haar-like rectangular features.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274320" y="2697480"/>
            <a:ext cx="301752" cy="301752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2679192"/>
            <a:ext cx="301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" y="26426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Image (O(1))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6656" y="29169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instant pixel-sum computation over any rectangle — making thousands of evaluations per frame practical.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274320" y="3493008"/>
            <a:ext cx="301752" cy="301752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3474720"/>
            <a:ext cx="301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" y="34381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Feature Selection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6656" y="37124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most discriminative Haar features from ~160,000 candidates using the AdaBoost ensemble method.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274320" y="4288536"/>
            <a:ext cx="301752" cy="301752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4270248"/>
            <a:ext cx="301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" y="4233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Classifier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6656" y="4507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classifiers chained in stages — early stages rapidly discard non-face regions, focusing compute on candidates.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5074920" y="1024128"/>
            <a:ext cx="3794760" cy="393192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074920" y="1024128"/>
            <a:ext cx="3794760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109728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Used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212080" y="1591056"/>
            <a:ext cx="3529584" cy="713232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321808" y="1636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scaleFactor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315200" y="1655064"/>
            <a:ext cx="1325880" cy="2743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0" y="163677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321808" y="19568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pyramid step — detects faces at various distances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5212080" y="2414016"/>
            <a:ext cx="3529584" cy="713232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321808" y="24597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minNeighbors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315200" y="2478024"/>
            <a:ext cx="1325880" cy="2743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8" name="Text 35"/>
          <p:cNvSpPr/>
          <p:nvPr/>
        </p:nvSpPr>
        <p:spPr>
          <a:xfrm>
            <a:off x="7315200" y="245973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321808" y="27797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 needed to confirm a face — suppresses false positives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5212080" y="3236976"/>
            <a:ext cx="3529584" cy="713232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321808" y="32826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minSize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315200" y="3300984"/>
            <a:ext cx="1325880" cy="2743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3" name="Text 40"/>
          <p:cNvSpPr/>
          <p:nvPr/>
        </p:nvSpPr>
        <p:spPr>
          <a:xfrm>
            <a:off x="7315200" y="328269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(30,30)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321808" y="36027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detectable face size — filters tiny artefacts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5212080" y="4059936"/>
            <a:ext cx="3529584" cy="713232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321808" y="41056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315200" y="4123944"/>
            <a:ext cx="1325880" cy="2743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8" name="Text 45"/>
          <p:cNvSpPr/>
          <p:nvPr/>
        </p:nvSpPr>
        <p:spPr>
          <a:xfrm>
            <a:off x="7315200" y="410565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321808" y="44256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threshold for face_recognition matching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Face Recognition via dlib Embeddings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15568"/>
            <a:ext cx="42519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15568"/>
            <a:ext cx="64008" cy="117043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9" name="Shape 6"/>
          <p:cNvSpPr/>
          <p:nvPr/>
        </p:nvSpPr>
        <p:spPr>
          <a:xfrm>
            <a:off x="402336" y="1207008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" y="1188720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1207008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(HOG)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1572768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dlib's own HOG-based detector locates face regions with higher accuracy than Haar — used internally by face_recognition.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736592" y="1115568"/>
            <a:ext cx="42519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36592" y="1115568"/>
            <a:ext cx="64008" cy="117043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5" name="Shape 12"/>
          <p:cNvSpPr/>
          <p:nvPr/>
        </p:nvSpPr>
        <p:spPr>
          <a:xfrm>
            <a:off x="4864608" y="1207008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6" name="Text 13"/>
          <p:cNvSpPr/>
          <p:nvPr/>
        </p:nvSpPr>
        <p:spPr>
          <a:xfrm>
            <a:off x="4864608" y="1188720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68112" y="1207008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Landmark Detection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68112" y="1572768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68 facial keypoints (eyes, nose, jaw) to align the face to a canonical orientation before encoding.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274320" y="2414016"/>
            <a:ext cx="42519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414016"/>
            <a:ext cx="64008" cy="117043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1" name="Shape 18"/>
          <p:cNvSpPr/>
          <p:nvPr/>
        </p:nvSpPr>
        <p:spPr>
          <a:xfrm>
            <a:off x="402336" y="2505456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22" name="Text 19"/>
          <p:cNvSpPr/>
          <p:nvPr/>
        </p:nvSpPr>
        <p:spPr>
          <a:xfrm>
            <a:off x="402336" y="2487168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05840" y="250545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128-Dimension Encoding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" y="2871216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CNN maps the aligned face to a 128-float vector that uniquely represents each identity across poses &amp; lighting.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4736592" y="2414016"/>
            <a:ext cx="42519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36592" y="2414016"/>
            <a:ext cx="64008" cy="117043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7" name="Shape 24"/>
          <p:cNvSpPr/>
          <p:nvPr/>
        </p:nvSpPr>
        <p:spPr>
          <a:xfrm>
            <a:off x="4864608" y="2505456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28" name="Text 25"/>
          <p:cNvSpPr/>
          <p:nvPr/>
        </p:nvSpPr>
        <p:spPr>
          <a:xfrm>
            <a:off x="4864608" y="2487168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68112" y="250545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Match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68112" y="2871216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stored encoding is compared to the live face vector. Distance &lt; 0.6 = same person (configurable tolerance).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274320" y="3712464"/>
            <a:ext cx="42519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712464"/>
            <a:ext cx="64008" cy="117043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3" name="Shape 30"/>
          <p:cNvSpPr/>
          <p:nvPr/>
        </p:nvSpPr>
        <p:spPr>
          <a:xfrm>
            <a:off x="402336" y="3803904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34" name="Text 31"/>
          <p:cNvSpPr/>
          <p:nvPr/>
        </p:nvSpPr>
        <p:spPr>
          <a:xfrm>
            <a:off x="402336" y="3785616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05840" y="38039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compare_faces() Result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05840" y="4169664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boolean list across all known encodings. The first True match identifies the person's name.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4736592" y="3712464"/>
            <a:ext cx="42519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36592" y="3712464"/>
            <a:ext cx="64008" cy="117043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9" name="Shape 36"/>
          <p:cNvSpPr/>
          <p:nvPr/>
        </p:nvSpPr>
        <p:spPr>
          <a:xfrm>
            <a:off x="4864608" y="3803904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40" name="Text 37"/>
          <p:cNvSpPr/>
          <p:nvPr/>
        </p:nvSpPr>
        <p:spPr>
          <a:xfrm>
            <a:off x="4864608" y="3785616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468112" y="38039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Guard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68112" y="4169664"/>
            <a:ext cx="3419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writing, pandas checks the existing daily CSV — each person logged exactly once per day regardless of session length.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24128"/>
            <a:ext cx="2788920" cy="182880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024128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9" name="Shape 6"/>
          <p:cNvSpPr/>
          <p:nvPr/>
        </p:nvSpPr>
        <p:spPr>
          <a:xfrm>
            <a:off x="356616" y="1207008"/>
            <a:ext cx="658368" cy="658368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271016"/>
            <a:ext cx="521208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1887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 Modes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" y="181965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image, pre-recorded video, and live webcam — all sharing the same recognition pipeline.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154680" y="1024128"/>
            <a:ext cx="2788920" cy="182880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54680" y="1024128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5" name="Shape 11"/>
          <p:cNvSpPr/>
          <p:nvPr/>
        </p:nvSpPr>
        <p:spPr>
          <a:xfrm>
            <a:off x="3282696" y="1207008"/>
            <a:ext cx="658368" cy="658368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1271016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23360" y="11887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Encoding Cache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264408" y="181965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Encodings computed once at startup — enables fast real-time matching without reprocessing.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80760" y="1024128"/>
            <a:ext cx="2788920" cy="182880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80760" y="1024128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1" name="Shape 16"/>
          <p:cNvSpPr/>
          <p:nvPr/>
        </p:nvSpPr>
        <p:spPr>
          <a:xfrm>
            <a:off x="6208776" y="1207008"/>
            <a:ext cx="658368" cy="658368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271016"/>
            <a:ext cx="521208" cy="5212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11887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Guard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190488" y="181965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minNeighbors=5 + tolerance=0.6 together minimize ghost detections and misidentifications.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28600" y="3017520"/>
            <a:ext cx="2788920" cy="182880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8600" y="3017520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7" name="Shape 21"/>
          <p:cNvSpPr/>
          <p:nvPr/>
        </p:nvSpPr>
        <p:spPr>
          <a:xfrm>
            <a:off x="356616" y="3200400"/>
            <a:ext cx="658368" cy="658368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264408"/>
            <a:ext cx="521208" cy="5212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1821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Timestamp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" y="381304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HH:MM:SS automatically on each recognition — one entry per person per calendar day.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154680" y="3017520"/>
            <a:ext cx="2788920" cy="182880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154680" y="3017520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3" name="Shape 26"/>
          <p:cNvSpPr/>
          <p:nvPr/>
        </p:nvSpPr>
        <p:spPr>
          <a:xfrm>
            <a:off x="3282696" y="3200400"/>
            <a:ext cx="658368" cy="658368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3264408"/>
            <a:ext cx="521208" cy="5212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023360" y="31821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Persistence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3264408" y="381304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known face held up to 10 frames when detection briefly fails — smooth annotated output video.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080760" y="3017520"/>
            <a:ext cx="2788920" cy="1828800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080760" y="3017520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9" name="Shape 31"/>
          <p:cNvSpPr/>
          <p:nvPr/>
        </p:nvSpPr>
        <p:spPr>
          <a:xfrm>
            <a:off x="6208776" y="3200400"/>
            <a:ext cx="658368" cy="658368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3264408"/>
            <a:ext cx="521208" cy="5212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949440" y="31821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CSV Report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6190488" y="381304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attendance_YYYY-MM-DD.csv auto-created, viewable as a table in-notebook and downloadable.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— Core Functions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69848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69848"/>
            <a:ext cx="64008" cy="89611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9" name="Shape 6"/>
          <p:cNvSpPr/>
          <p:nvPr/>
        </p:nvSpPr>
        <p:spPr>
          <a:xfrm>
            <a:off x="402336" y="1143000"/>
            <a:ext cx="3520440" cy="310896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" y="11430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load_known_faces(dataset_dir)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005072" y="11338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Scans dataset folder, loads each image, computes 128-d face_encodings() for every face found, and returns parallel (encodings[], names[]) lists.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4005072" y="154533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D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Builds the in-memory lookup table shared by all three input modes — called once at startup.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274320" y="2057400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057400"/>
            <a:ext cx="64008" cy="89611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5" name="Shape 12"/>
          <p:cNvSpPr/>
          <p:nvPr/>
        </p:nvSpPr>
        <p:spPr>
          <a:xfrm>
            <a:off x="402336" y="2130552"/>
            <a:ext cx="3520440" cy="310896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" y="21305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mark_attendance(name, dir)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005072" y="21214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Opens today's CSV (creates if absent), checks if name already logged, appends Name + current HH:MM:SS timestamp only when absent.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4005072" y="25328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D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Guarantees exactly one attendance entry per person per day, regardless of how many frames they appear in.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274320" y="3044952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044952"/>
            <a:ext cx="64008" cy="89611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1" name="Shape 18"/>
          <p:cNvSpPr/>
          <p:nvPr/>
        </p:nvSpPr>
        <p:spPr>
          <a:xfrm>
            <a:off x="402336" y="3118104"/>
            <a:ext cx="3520440" cy="310896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" y="31181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recognize_image(path, enc, names)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005072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Reads image → Haar Cascade detects face locations → face_encodings() → compare_faces() → draws bounding boxes + labels → calls mark_attendance().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4005072" y="35204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D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Unified detect + recognize + annotate function reused by both image and video modes.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274320" y="4032504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4032504"/>
            <a:ext cx="64008" cy="896112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7" name="Shape 24"/>
          <p:cNvSpPr/>
          <p:nvPr/>
        </p:nvSpPr>
        <p:spPr>
          <a:xfrm>
            <a:off x="402336" y="4105656"/>
            <a:ext cx="3520440" cy="310896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28" name="Text 25"/>
          <p:cNvSpPr/>
          <p:nvPr/>
        </p:nvSpPr>
        <p:spPr>
          <a:xfrm>
            <a:off x="438912" y="41056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3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process_video(path, enc, names)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005072" y="4096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Reads video frame-by-frame, runs recognition logic, holds last-known face up to 10 frames on detection failure, writes annotated MP4.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4005072" y="45079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D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Produces polished output video with smooth bounding boxes while running attendance silently in background.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&amp; Live CSV Output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0241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Attendance is Logged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463040"/>
            <a:ext cx="274320" cy="27432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4447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4356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recognized → name extracted from matches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011680"/>
            <a:ext cx="274320" cy="27432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199339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1984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reads today's CSV (creates file if absent)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560320"/>
            <a:ext cx="274320" cy="27432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25420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2532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name already present — prevents duplicates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108960"/>
            <a:ext cx="274320" cy="27432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30906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3081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Appends: Name + current HH:MM:SS timestamp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3657600"/>
            <a:ext cx="274320" cy="27432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36393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3630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updated CSV to Google Drive attendance folder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4206240"/>
            <a:ext cx="274320" cy="274320"/>
          </a:xfrm>
          <a:prstGeom prst="ellipse">
            <a:avLst/>
          </a:prstGeom>
          <a:solidFill>
            <a:srgbClr val="A63235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41879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4178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In-notebook viewer: table display + download link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17720" y="102412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attendance_2026-04-29.csv  (live data)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435608"/>
          <a:ext cx="4251960" cy="324612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</a:tblGrid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235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17:08:22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17:08:31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17:08:54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17:09:10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saswata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17:09:19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17:10:54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17:11:12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6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unique persons recognized &amp; logged automatically — zero duplicates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System Demonstration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78992"/>
            <a:ext cx="2011680" cy="1234440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78992"/>
            <a:ext cx="201168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1704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274320" y="17373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20299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 / Live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50592" y="1078992"/>
            <a:ext cx="2011680" cy="1234440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078992"/>
            <a:ext cx="201168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4" name="Text 11"/>
          <p:cNvSpPr/>
          <p:nvPr/>
        </p:nvSpPr>
        <p:spPr>
          <a:xfrm>
            <a:off x="2450592" y="11704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2450592" y="17373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Logged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450592" y="20299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29 live session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26864" y="1078992"/>
            <a:ext cx="2011680" cy="1234440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26864" y="1078992"/>
            <a:ext cx="201168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9" name="Text 16"/>
          <p:cNvSpPr/>
          <p:nvPr/>
        </p:nvSpPr>
        <p:spPr>
          <a:xfrm>
            <a:off x="4626864" y="11704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4626864" y="17373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Tolerance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26864" y="20299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threshold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03136" y="1078992"/>
            <a:ext cx="2011680" cy="1234440"/>
          </a:xfrm>
          <a:prstGeom prst="rect">
            <a:avLst/>
          </a:prstGeom>
          <a:solidFill>
            <a:srgbClr val="1A1F3C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03136" y="1078992"/>
            <a:ext cx="201168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4" name="Text 21"/>
          <p:cNvSpPr/>
          <p:nvPr/>
        </p:nvSpPr>
        <p:spPr>
          <a:xfrm>
            <a:off x="6803136" y="11704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6803136" y="17373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03136" y="20299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guard active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4320" y="2487168"/>
            <a:ext cx="278892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2487168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9" name="Shape 26"/>
          <p:cNvSpPr/>
          <p:nvPr/>
        </p:nvSpPr>
        <p:spPr>
          <a:xfrm>
            <a:off x="1234440" y="2606040"/>
            <a:ext cx="868680" cy="86868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679192"/>
            <a:ext cx="713232" cy="7132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84048" y="354787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Mode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438912" y="39684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JPEG/PNG → detect faces → draw green bounding boxes → label name or 'Unknown' → mark attendance.</a:t>
            </a:r>
            <a:endParaRPr lang="en-US" sz="1020" dirty="0"/>
          </a:p>
        </p:txBody>
      </p:sp>
      <p:sp>
        <p:nvSpPr>
          <p:cNvPr id="33" name="Shape 29"/>
          <p:cNvSpPr/>
          <p:nvPr/>
        </p:nvSpPr>
        <p:spPr>
          <a:xfrm>
            <a:off x="3200400" y="2487168"/>
            <a:ext cx="278892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200400" y="2487168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35" name="Shape 31"/>
          <p:cNvSpPr/>
          <p:nvPr/>
        </p:nvSpPr>
        <p:spPr>
          <a:xfrm>
            <a:off x="4160520" y="2606040"/>
            <a:ext cx="868680" cy="86868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2679192"/>
            <a:ext cx="713232" cy="7132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310128" y="354787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Mode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3364992" y="39684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.mp4/.avi frame-by-frame → annotate each frame → export output video → attendance logged silently.</a:t>
            </a:r>
            <a:endParaRPr lang="en-US" sz="1020" dirty="0"/>
          </a:p>
        </p:txBody>
      </p:sp>
      <p:sp>
        <p:nvSpPr>
          <p:cNvPr id="39" name="Shape 34"/>
          <p:cNvSpPr/>
          <p:nvPr/>
        </p:nvSpPr>
        <p:spPr>
          <a:xfrm>
            <a:off x="6126480" y="2487168"/>
            <a:ext cx="278892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126480" y="2487168"/>
            <a:ext cx="2788920" cy="64008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1" name="Shape 36"/>
          <p:cNvSpPr/>
          <p:nvPr/>
        </p:nvSpPr>
        <p:spPr>
          <a:xfrm>
            <a:off x="7086600" y="2606040"/>
            <a:ext cx="868680" cy="86868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679192"/>
            <a:ext cx="713232" cy="7132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236208" y="354787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6291072" y="39684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JS bridge captures 640×480 frames → Python decodes base64 → recognition displayed every 5 frames.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Enhancements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"/>
            <a:ext cx="1572768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82880"/>
            <a:ext cx="1499616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024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444752"/>
            <a:ext cx="406908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44752"/>
            <a:ext cx="64008" cy="786384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0" name="Text 7"/>
          <p:cNvSpPr/>
          <p:nvPr/>
        </p:nvSpPr>
        <p:spPr>
          <a:xfrm>
            <a:off x="420624" y="1490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detection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" y="1810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accuracy drops in poor lighting; mitigated with grayscale pre-processing and increased minNeighbors.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274320" y="2331720"/>
            <a:ext cx="406908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331720"/>
            <a:ext cx="64008" cy="786384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4" name="Text 11"/>
          <p:cNvSpPr/>
          <p:nvPr/>
        </p:nvSpPr>
        <p:spPr>
          <a:xfrm>
            <a:off x="420624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webcam bridge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20624" y="2697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JS → base64 → Python decode adds latency; managed by refreshing display every 5 frames.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274320" y="3218688"/>
            <a:ext cx="406908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3218688"/>
            <a:ext cx="64008" cy="786384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" y="3264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flicker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20624" y="3584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detection gaps caused bounding box disappearance; resolved with 10-frame face persistence logic.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274320" y="4105656"/>
            <a:ext cx="406908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4105656"/>
            <a:ext cx="64008" cy="786384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2" name="Text 19"/>
          <p:cNvSpPr/>
          <p:nvPr/>
        </p:nvSpPr>
        <p:spPr>
          <a:xfrm>
            <a:off x="420624" y="4151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limitation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20624" y="4471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training images per person reduces recognition confidence at side angles or with accessories.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4709160" y="10241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09160" y="1444752"/>
            <a:ext cx="416052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1444752"/>
            <a:ext cx="64008" cy="786384"/>
          </a:xfrm>
          <a:prstGeom prst="rect">
            <a:avLst/>
          </a:prstGeom>
          <a:solidFill>
            <a:srgbClr val="33AA55"/>
          </a:solidFill>
          <a:ln/>
        </p:spPr>
      </p:sp>
      <p:sp>
        <p:nvSpPr>
          <p:cNvPr id="27" name="Shape 24"/>
          <p:cNvSpPr/>
          <p:nvPr/>
        </p:nvSpPr>
        <p:spPr>
          <a:xfrm>
            <a:off x="4791456" y="1609344"/>
            <a:ext cx="457200" cy="457200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55064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40096" y="149047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Detector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340096" y="181051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Haar with YOLOv8-face or MTCNN for accurate detection in varied lighting and angles.</a:t>
            </a:r>
            <a:endParaRPr lang="en-US" sz="980" dirty="0"/>
          </a:p>
        </p:txBody>
      </p:sp>
      <p:sp>
        <p:nvSpPr>
          <p:cNvPr id="31" name="Shape 27"/>
          <p:cNvSpPr/>
          <p:nvPr/>
        </p:nvSpPr>
        <p:spPr>
          <a:xfrm>
            <a:off x="4709160" y="2331720"/>
            <a:ext cx="416052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709160" y="2331720"/>
            <a:ext cx="64008" cy="786384"/>
          </a:xfrm>
          <a:prstGeom prst="rect">
            <a:avLst/>
          </a:prstGeom>
          <a:solidFill>
            <a:srgbClr val="33AA55"/>
          </a:solidFill>
          <a:ln/>
        </p:spPr>
      </p:sp>
      <p:sp>
        <p:nvSpPr>
          <p:cNvPr id="33" name="Shape 29"/>
          <p:cNvSpPr/>
          <p:nvPr/>
        </p:nvSpPr>
        <p:spPr>
          <a:xfrm>
            <a:off x="4791456" y="2496312"/>
            <a:ext cx="457200" cy="457200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42032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40096" y="237744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Module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5340096" y="269748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liveness detection (blink/depth) to prevent photo or video spoofing attacks.</a:t>
            </a:r>
            <a:endParaRPr lang="en-US" sz="980" dirty="0"/>
          </a:p>
        </p:txBody>
      </p:sp>
      <p:sp>
        <p:nvSpPr>
          <p:cNvPr id="37" name="Shape 32"/>
          <p:cNvSpPr/>
          <p:nvPr/>
        </p:nvSpPr>
        <p:spPr>
          <a:xfrm>
            <a:off x="4709160" y="3218688"/>
            <a:ext cx="416052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709160" y="3218688"/>
            <a:ext cx="64008" cy="786384"/>
          </a:xfrm>
          <a:prstGeom prst="rect">
            <a:avLst/>
          </a:prstGeom>
          <a:solidFill>
            <a:srgbClr val="33AA55"/>
          </a:solidFill>
          <a:ln/>
        </p:spPr>
      </p:sp>
      <p:sp>
        <p:nvSpPr>
          <p:cNvPr id="39" name="Shape 34"/>
          <p:cNvSpPr/>
          <p:nvPr/>
        </p:nvSpPr>
        <p:spPr>
          <a:xfrm>
            <a:off x="4791456" y="3383280"/>
            <a:ext cx="457200" cy="457200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29000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340096" y="326440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Backend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5340096" y="358444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CSV to SQLite/PostgreSQL for multi-class, multi-institution scalability.</a:t>
            </a:r>
            <a:endParaRPr lang="en-US" sz="980" dirty="0"/>
          </a:p>
        </p:txBody>
      </p:sp>
      <p:sp>
        <p:nvSpPr>
          <p:cNvPr id="43" name="Shape 37"/>
          <p:cNvSpPr/>
          <p:nvPr/>
        </p:nvSpPr>
        <p:spPr>
          <a:xfrm>
            <a:off x="4709160" y="4105656"/>
            <a:ext cx="4160520" cy="786384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709160" y="4105656"/>
            <a:ext cx="64008" cy="786384"/>
          </a:xfrm>
          <a:prstGeom prst="rect">
            <a:avLst/>
          </a:prstGeom>
          <a:solidFill>
            <a:srgbClr val="33AA55"/>
          </a:solidFill>
          <a:ln/>
        </p:spPr>
      </p:sp>
      <p:sp>
        <p:nvSpPr>
          <p:cNvPr id="45" name="Shape 39"/>
          <p:cNvSpPr/>
          <p:nvPr/>
        </p:nvSpPr>
        <p:spPr>
          <a:xfrm>
            <a:off x="4791456" y="4270248"/>
            <a:ext cx="457200" cy="457200"/>
          </a:xfrm>
          <a:prstGeom prst="ellipse">
            <a:avLst/>
          </a:prstGeom>
          <a:solidFill>
            <a:srgbClr val="1A1F3C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315968"/>
            <a:ext cx="347472" cy="34747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340096" y="4151376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5340096" y="4471416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Streamlit dashboard for attendance trends, absentee alerts, and reports.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291840"/>
            <a:ext cx="2560320" cy="2560320"/>
          </a:xfrm>
          <a:prstGeom prst="ellipse">
            <a:avLst/>
          </a:prstGeom>
          <a:solidFill>
            <a:srgbClr val="A63235">
              <a:alpha val="18000"/>
            </a:srgbClr>
          </a:solidFill>
          <a:ln w="12700">
            <a:solidFill>
              <a:srgbClr val="A632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731520"/>
            <a:ext cx="2194560" cy="2194560"/>
          </a:xfrm>
          <a:prstGeom prst="ellipse">
            <a:avLst/>
          </a:prstGeom>
          <a:solidFill>
            <a:srgbClr val="3D6DB5">
              <a:alpha val="20000"/>
            </a:srgbClr>
          </a:solidFill>
          <a:ln w="12700">
            <a:solidFill>
              <a:srgbClr val="3D6DB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5" name="Shape 3"/>
          <p:cNvSpPr/>
          <p:nvPr/>
        </p:nvSpPr>
        <p:spPr>
          <a:xfrm>
            <a:off x="2651760" y="320040"/>
            <a:ext cx="384048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411480"/>
            <a:ext cx="356616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6420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2286000" y="2633472"/>
            <a:ext cx="4572000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Recognition with Automated Attendance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AI Internship Project  ·  2026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822192"/>
            <a:ext cx="1874520" cy="566928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822192"/>
            <a:ext cx="1874520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8953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Haar Cascade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78608" y="3822192"/>
            <a:ext cx="1874520" cy="566928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78608" y="3822192"/>
            <a:ext cx="1874520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6" name="Text 13"/>
          <p:cNvSpPr/>
          <p:nvPr/>
        </p:nvSpPr>
        <p:spPr>
          <a:xfrm>
            <a:off x="2578608" y="38953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128-d Embeddings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08576" y="3822192"/>
            <a:ext cx="1874520" cy="566928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08576" y="3822192"/>
            <a:ext cx="1874520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19" name="Text 16"/>
          <p:cNvSpPr/>
          <p:nvPr/>
        </p:nvSpPr>
        <p:spPr>
          <a:xfrm>
            <a:off x="4608576" y="38953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CSV Attendance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638544" y="3822192"/>
            <a:ext cx="1874520" cy="566928"/>
          </a:xfrm>
          <a:prstGeom prst="rect">
            <a:avLst/>
          </a:prstGeom>
          <a:solidFill>
            <a:srgbClr val="11183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38544" y="3822192"/>
            <a:ext cx="1874520" cy="54864"/>
          </a:xfrm>
          <a:prstGeom prst="rect">
            <a:avLst/>
          </a:prstGeom>
          <a:solidFill>
            <a:srgbClr val="A63235"/>
          </a:solidFill>
          <a:ln/>
        </p:spPr>
      </p:sp>
      <p:sp>
        <p:nvSpPr>
          <p:cNvPr id="22" name="Text 19"/>
          <p:cNvSpPr/>
          <p:nvPr/>
        </p:nvSpPr>
        <p:spPr>
          <a:xfrm>
            <a:off x="6638544" y="38953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 Modes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Kaushik  ·  CodSoft AI Internship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Detection &amp; Recognition with Attendance System</dc:title>
  <dc:subject>PptxGenJS Presentation</dc:subject>
  <dc:creator>CodSoft AI Internship</dc:creator>
  <cp:lastModifiedBy>CodSoft AI Internship</cp:lastModifiedBy>
  <cp:revision>1</cp:revision>
  <dcterms:created xsi:type="dcterms:W3CDTF">2026-05-01T05:59:37Z</dcterms:created>
  <dcterms:modified xsi:type="dcterms:W3CDTF">2026-05-01T05:59:37Z</dcterms:modified>
</cp:coreProperties>
</file>